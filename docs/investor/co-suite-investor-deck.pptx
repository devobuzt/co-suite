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<Relationship Id="rId1" Type="http://schemas.openxmlformats.org/officeDocument/2006/relationships/officeDocument" Target="ppt/presentation.xml"/>
 <Relationship Id="rId2" Type="http://schemas.openxmlformats.org/package/2006/relationships/metadata/core-properties" Target="docProps/core.xml"/>
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6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 <Relationship Id="rId16" Type="http://schemas.openxmlformats.org/officeDocument/2006/relationships/slideMaster" Target="slideMasters/slideMaster1.xml"/>
 <Relationship Id="rId17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Confidential investor narrative · June 2026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F7F7F2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900" b="1">
                <a:solidFill>
                  <a:srgbClr val="F7F7F2"/>
                </a:solidFill>
              </a:rPr>
              <a:t>The AI marketing operating system for every business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630936" y="224028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750">
                <a:solidFill>
                  <a:srgbClr val="C9C9C5"/>
                </a:solidFill>
              </a:rPr>
              <a:t>co-Suite turns a business's website, social pages, brand assets, products, audience, and connected ad accounts into a living marketing workspace.</a:t>
            </a:r>
          </a:p>
        </p:txBody>
      </p:sp>
      <p:sp>
        <p:nvSpPr>
          <p:cNvPr id="7" name="Accent"/>
          <p:cNvSpPr/>
          <p:nvPr/>
        </p:nvSpPr>
        <p:spPr>
          <a:xfrm>
            <a:off x="594360" y="6199632"/>
            <a:ext cx="3474720" cy="64008"/>
          </a:xfrm>
          <a:prstGeom prst="rect">
            <a:avLst/>
          </a:prstGeom>
          <a:solidFill>
            <a:srgbClr val="D7FF21"/>
          </a:solidFill>
          <a:ln>
            <a:noFill/>
          </a:ln>
        </p:spPr>
      </p:sp>
      <p:sp>
        <p:nvSpPr>
          <p:cNvPr id="8" name="Accent"/>
          <p:cNvSpPr/>
          <p:nvPr/>
        </p:nvSpPr>
        <p:spPr>
          <a:xfrm>
            <a:off x="4160520" y="6199632"/>
            <a:ext cx="3474720" cy="64008"/>
          </a:xfrm>
          <a:prstGeom prst="rect">
            <a:avLst/>
          </a:prstGeom>
          <a:solidFill>
            <a:srgbClr val="FF4FA3"/>
          </a:solidFill>
          <a:ln>
            <a:noFill/>
          </a:ln>
        </p:spPr>
      </p:sp>
      <p:sp>
        <p:nvSpPr>
          <p:cNvPr id="9" name="Accent"/>
          <p:cNvSpPr/>
          <p:nvPr/>
        </p:nvSpPr>
        <p:spPr>
          <a:xfrm>
            <a:off x="7726679" y="6199632"/>
            <a:ext cx="3474720" cy="64008"/>
          </a:xfrm>
          <a:prstGeom prst="rect">
            <a:avLst/>
          </a:prstGeom>
          <a:solidFill>
            <a:srgbClr val="2F80FF"/>
          </a:solidFill>
          <a:ln>
            <a:noFill/>
          </a:ln>
        </p:spPr>
      </p:sp>
      <p:sp>
        <p:nvSpPr>
          <p:cNvPr id="10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Problem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0B0B0B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0B0B0B"/>
                </a:solidFill>
              </a:rPr>
              <a:t>Small businesses do not have a marketing operating system.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77240" y="2423160"/>
            <a:ext cx="3337560" cy="141732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Too expensive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Hiring a full marketing team is out of reach before the business proves growth.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434840" y="2423160"/>
            <a:ext cx="3337560" cy="141732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Too generic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AI tools generate content, but do not understand the business, language, brand, audience, or market.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092440" y="2423160"/>
            <a:ext cx="3337560" cy="141732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Too fragmented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Work is scattered across social apps, ad managers, design tools, calendars, spreadsheets, and chat.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Insight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F7F7F2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F7F7F2"/>
                </a:solidFill>
              </a:rPr>
              <a:t>The bottleneck is not content generation. It is business understanding.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630936" y="224028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750">
                <a:solidFill>
                  <a:srgbClr val="C9C9C5"/>
                </a:solidFill>
              </a:rPr>
              <a:t>Generic AI can create a post. It cannot reliably know what this business sells, who the audience is, what language to use, or what the user approved last time.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822960" y="3703320"/>
            <a:ext cx="4754880" cy="12344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Without memory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Every prompt starts from zero. Quality depends on how well the user explains the business again.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989320" y="3703320"/>
            <a:ext cx="4754880" cy="12344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With Suite Memory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Every post, image, video, campaign, and schedule is grounded in the business profile, brand, audience, and feedback history.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Solution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F7F7F2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F7F7F2"/>
                </a:solidFill>
              </a:rPr>
              <a:t>One suite per business. One memory. Many workflows.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77240" y="2468880"/>
            <a:ext cx="3337560" cy="15087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Business brain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Business profile, category, services, products, audience, USP, ESP, and marketing message.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434840" y="2468880"/>
            <a:ext cx="3337560" cy="15087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Brand brain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Logos, colors, fonts, visual rules, personas, content tone, language rules, and feedback learnings.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092440" y="2468880"/>
            <a:ext cx="3337560" cy="15087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Operating brain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Connected platforms, analytics, generated content, calendars, campaigns, product bulk jobs, publishing status.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Product flow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0B0B0B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0B0B0B"/>
                </a:solidFill>
              </a:rPr>
              <a:t>From onboarding to daily marketing operations.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77240" y="2240280"/>
            <a:ext cx="4892040" cy="123444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1. Build the Suite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Read website and social links, extract business intelligence, and guide profile confirmation step by step.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5989320" y="2240280"/>
            <a:ext cx="4892040" cy="123444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2. Operate the Suite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Generate, review, edit, approve, schedule, publish, analyze, and improve future rules.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777240" y="3794760"/>
            <a:ext cx="4892040" cy="123444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3. Expand workflows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Product creatives, carousels, videos, sponsored campaigns, social calendar loops, and agency operations.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989320" y="3794760"/>
            <a:ext cx="4892040" cy="123444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4. Keep learning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Every approval, rejection, upload, campaign, and platform connection strengthens the Suite Memory.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Why now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F7F7F2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F7F7F2"/>
                </a:solidFill>
              </a:rPr>
              <a:t>AI creation is becoming cheap. Context and workflow are the defensible layer.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685800" y="2331720"/>
            <a:ext cx="9875520" cy="2926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marL="285750" indent="-171450">
              <a:buChar char="•"/>
              <a:buFont typeface="Arial"/>
            </a:pPr>
            <a:r>
              <a:rPr lang="en-US" sz="1550">
                <a:solidFill>
                  <a:srgbClr val="C9C9C5"/>
                </a:solidFill>
              </a:rPr>
              <a:t>Text, image, and video generation models are improving quickly.</a:t>
            </a:r>
          </a:p>
          <a:p>
            <a:pPr marL="285750" indent="-171450">
              <a:buChar char="•"/>
              <a:buFont typeface="Arial"/>
            </a:pPr>
            <a:r>
              <a:rPr lang="en-US" sz="1550">
                <a:solidFill>
                  <a:srgbClr val="C9C9C5"/>
                </a:solidFill>
              </a:rPr>
              <a:t>Small businesses still need control, approvals, scheduling, platform connections, and analytics.</a:t>
            </a:r>
          </a:p>
          <a:p>
            <a:pPr marL="285750" indent="-171450">
              <a:buChar char="•"/>
              <a:buFont typeface="Arial"/>
            </a:pPr>
            <a:r>
              <a:rPr lang="en-US" sz="1550">
                <a:solidFill>
                  <a:srgbClr val="C9C9C5"/>
                </a:solidFill>
              </a:rPr>
              <a:t>Multilingual local markets need Arabic, Hebrew, English, and additional languages as native product experiences.</a:t>
            </a:r>
          </a:p>
          <a:p>
            <a:pPr marL="285750" indent="-171450">
              <a:buChar char="•"/>
              <a:buFont typeface="Arial"/>
            </a:pPr>
            <a:r>
              <a:rPr lang="en-US" sz="1550">
                <a:solidFill>
                  <a:srgbClr val="C9C9C5"/>
                </a:solidFill>
              </a:rPr>
              <a:t>The winning product is not one model. It is the operating layer around many models and platforms.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Wedge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0B0B0B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0B0B0B"/>
                </a:solidFill>
              </a:rPr>
              <a:t>Start with multilingual SMBs and agencies in Israel and nearby markets.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77240" y="2423160"/>
            <a:ext cx="3337560" cy="141732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SMBs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Need consistent content, simple campaigns, clear analytics, and brand discipline without hiring a full team.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434840" y="2423160"/>
            <a:ext cx="3337560" cy="141732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Creators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Need voice, persona references, video/carousel output, and rules for what to say or avoid.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092440" y="2423160"/>
            <a:ext cx="3337560" cy="141732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Agencies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Need faster onboarding, bulk generation, review flows, and multi-client operations.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Differentiation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F7F7F2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F7F7F2"/>
                </a:solidFill>
              </a:rPr>
              <a:t>co-Suite is not a post generator.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77240" y="214884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250" b="1">
                <a:solidFill>
                  <a:srgbClr val="D7FF21"/>
                </a:solidFill>
              </a:rPr>
              <a:t>Generic AI tools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5715000" y="2148840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250" b="1">
                <a:solidFill>
                  <a:srgbClr val="D7FF21"/>
                </a:solidFill>
              </a:rPr>
              <a:t>co-Suite</a:t>
            </a:r>
          </a:p>
        </p:txBody>
      </p:sp>
      <p:sp>
        <p:nvSpPr>
          <p:cNvPr id="8" name="Accent"/>
          <p:cNvSpPr/>
          <p:nvPr/>
        </p:nvSpPr>
        <p:spPr>
          <a:xfrm>
            <a:off x="777240" y="2542032"/>
            <a:ext cx="10149840" cy="10972"/>
          </a:xfrm>
          <a:prstGeom prst="rect">
            <a:avLst/>
          </a:prstGeom>
          <a:solidFill>
            <a:srgbClr val="333338"/>
          </a:solidFill>
          <a:ln>
            <a:noFill/>
          </a:ln>
        </p:spPr>
      </p:sp>
      <p:sp>
        <p:nvSpPr>
          <p:cNvPr id="9" name="TextBox"/>
          <p:cNvSpPr txBox="1"/>
          <p:nvPr/>
        </p:nvSpPr>
        <p:spPr>
          <a:xfrm>
            <a:off x="777240" y="265176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Prompt-by-prompt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15000" y="2651760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Persistent Suite Memory</a:t>
            </a:r>
          </a:p>
        </p:txBody>
      </p:sp>
      <p:sp>
        <p:nvSpPr>
          <p:cNvPr id="11" name="Accent"/>
          <p:cNvSpPr/>
          <p:nvPr/>
        </p:nvSpPr>
        <p:spPr>
          <a:xfrm>
            <a:off x="777240" y="3044952"/>
            <a:ext cx="10149840" cy="10972"/>
          </a:xfrm>
          <a:prstGeom prst="rect">
            <a:avLst/>
          </a:prstGeom>
          <a:solidFill>
            <a:srgbClr val="333338"/>
          </a:solidFill>
          <a:ln>
            <a:noFill/>
          </a:ln>
        </p:spPr>
      </p:sp>
      <p:sp>
        <p:nvSpPr>
          <p:cNvPr id="12" name="TextBox"/>
          <p:cNvSpPr txBox="1"/>
          <p:nvPr/>
        </p:nvSpPr>
        <p:spPr>
          <a:xfrm>
            <a:off x="777240" y="315468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Mostly English-first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5715000" y="3154680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Native multilingual product and generation</a:t>
            </a:r>
          </a:p>
        </p:txBody>
      </p:sp>
      <p:sp>
        <p:nvSpPr>
          <p:cNvPr id="14" name="Accent"/>
          <p:cNvSpPr/>
          <p:nvPr/>
        </p:nvSpPr>
        <p:spPr>
          <a:xfrm>
            <a:off x="777240" y="3547872"/>
            <a:ext cx="10149840" cy="10972"/>
          </a:xfrm>
          <a:prstGeom prst="rect">
            <a:avLst/>
          </a:prstGeom>
          <a:solidFill>
            <a:srgbClr val="333338"/>
          </a:solidFill>
          <a:ln>
            <a:noFill/>
          </a:ln>
        </p:spPr>
      </p:sp>
      <p:sp>
        <p:nvSpPr>
          <p:cNvPr id="15" name="TextBox"/>
          <p:cNvSpPr txBox="1"/>
          <p:nvPr/>
        </p:nvSpPr>
        <p:spPr>
          <a:xfrm>
            <a:off x="777240" y="365760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Detached from platforms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5715000" y="3657600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Meta, Instagram, Google Ads, storage, publishing</a:t>
            </a:r>
          </a:p>
        </p:txBody>
      </p:sp>
      <p:sp>
        <p:nvSpPr>
          <p:cNvPr id="17" name="Accent"/>
          <p:cNvSpPr/>
          <p:nvPr/>
        </p:nvSpPr>
        <p:spPr>
          <a:xfrm>
            <a:off x="777240" y="4050791"/>
            <a:ext cx="10149840" cy="10972"/>
          </a:xfrm>
          <a:prstGeom prst="rect">
            <a:avLst/>
          </a:prstGeom>
          <a:solidFill>
            <a:srgbClr val="333338"/>
          </a:solidFill>
          <a:ln>
            <a:noFill/>
          </a:ln>
        </p:spPr>
      </p:sp>
      <p:sp>
        <p:nvSpPr>
          <p:cNvPr id="18" name="TextBox"/>
          <p:cNvSpPr txBox="1"/>
          <p:nvPr/>
        </p:nvSpPr>
        <p:spPr>
          <a:xfrm>
            <a:off x="777240" y="416052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One-off outputs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5715000" y="4160520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Pending, approved, scheduled, published lifecycle</a:t>
            </a:r>
          </a:p>
        </p:txBody>
      </p:sp>
      <p:sp>
        <p:nvSpPr>
          <p:cNvPr id="20" name="Accent"/>
          <p:cNvSpPr/>
          <p:nvPr/>
        </p:nvSpPr>
        <p:spPr>
          <a:xfrm>
            <a:off x="777240" y="4553712"/>
            <a:ext cx="10149840" cy="10972"/>
          </a:xfrm>
          <a:prstGeom prst="rect">
            <a:avLst/>
          </a:prstGeom>
          <a:solidFill>
            <a:srgbClr val="333338"/>
          </a:solidFill>
          <a:ln>
            <a:noFill/>
          </a:ln>
        </p:spPr>
      </p:sp>
      <p:sp>
        <p:nvSpPr>
          <p:cNvPr id="21" name="TextBox"/>
          <p:cNvSpPr txBox="1"/>
          <p:nvPr/>
        </p:nvSpPr>
        <p:spPr>
          <a:xfrm>
            <a:off x="777240" y="466344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No business setup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5715000" y="4663440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AI-assisted business and brand profile</a:t>
            </a:r>
          </a:p>
        </p:txBody>
      </p:sp>
      <p:sp>
        <p:nvSpPr>
          <p:cNvPr id="23" name="Accent"/>
          <p:cNvSpPr/>
          <p:nvPr/>
        </p:nvSpPr>
        <p:spPr>
          <a:xfrm>
            <a:off x="777240" y="5056631"/>
            <a:ext cx="10149840" cy="10972"/>
          </a:xfrm>
          <a:prstGeom prst="rect">
            <a:avLst/>
          </a:prstGeom>
          <a:solidFill>
            <a:srgbClr val="333338"/>
          </a:solidFill>
          <a:ln>
            <a:noFill/>
          </a:ln>
        </p:spPr>
      </p:sp>
      <p:sp>
        <p:nvSpPr>
          <p:cNvPr id="24" name="TextBox"/>
          <p:cNvSpPr txBox="1"/>
          <p:nvPr/>
        </p:nvSpPr>
        <p:spPr>
          <a:xfrm>
            <a:off x="777240" y="5166359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Weak feedback loop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715000" y="5166359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350">
                <a:solidFill>
                  <a:srgbClr val="C9C9C5"/>
                </a:solidFill>
              </a:rPr>
              <a:t>Rejection and edits become rules</a:t>
            </a:r>
          </a:p>
        </p:txBody>
      </p:sp>
      <p:sp>
        <p:nvSpPr>
          <p:cNvPr id="26" name="Accent"/>
          <p:cNvSpPr/>
          <p:nvPr/>
        </p:nvSpPr>
        <p:spPr>
          <a:xfrm>
            <a:off x="777240" y="5559551"/>
            <a:ext cx="10149840" cy="10972"/>
          </a:xfrm>
          <a:prstGeom prst="rect">
            <a:avLst/>
          </a:prstGeom>
          <a:solidFill>
            <a:srgbClr val="333338"/>
          </a:solidFill>
          <a:ln>
            <a:noFill/>
          </a:ln>
        </p:spPr>
      </p:sp>
      <p:sp>
        <p:nvSpPr>
          <p:cNvPr id="27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Capabilities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F7F7F2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F7F7F2"/>
                </a:solidFill>
              </a:rPr>
              <a:t>The platform already spans the core marketing workflow.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77240" y="2423160"/>
            <a:ext cx="3337560" cy="15087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Onboarding intelligence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Reads websites/social pages and extracts category, services, audience, language, and brand signals.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434840" y="2423160"/>
            <a:ext cx="3337560" cy="15087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Generation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Ideas, captions, images, carousels, videos, product bulk creatives, and regeneration with feedback.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092440" y="2423160"/>
            <a:ext cx="3337560" cy="15087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Connections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Meta/Facebook/Instagram, Meta Ads, Google Ads, R2 media storage, publishing and analytics foundations.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Business model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0B0B0B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0B0B0B"/>
                </a:solidFill>
              </a:rPr>
              <a:t>Subscription plus usage-based AI and media generation.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77240" y="2423160"/>
            <a:ext cx="3337560" cy="150876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Subscription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Monthly pricing per Suite, with agency tier for multiple client Suites and team seats.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434840" y="2423160"/>
            <a:ext cx="3337560" cy="150876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Usage credits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Variable AI cost covered through credits for images, videos, bulk jobs, and premium generation.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092440" y="2423160"/>
            <a:ext cx="3337560" cy="150876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Add-ons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Campaign builder, automation loops, advanced analytics, agency operations, and managed workflows.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Moat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F7F7F2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F7F7F2"/>
                </a:solidFill>
              </a:rPr>
              <a:t>The moat is compound memory plus workflow distribution.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630936" y="224028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750">
                <a:solidFill>
                  <a:srgbClr val="C9C9C5"/>
                </a:solidFill>
              </a:rPr>
              <a:t>The product improves every time the user approves, edits, rejects, connects, uploads, publishes, or analyzes.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777240" y="3474720"/>
            <a:ext cx="3337560" cy="12344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Data asset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Business profile, product catalog, brand assets, language rules, and audience definitions.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4434840" y="3474720"/>
            <a:ext cx="3337560" cy="12344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Workflow lock-in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Content lifecycle, campaign surfaces, calendars, publishing, analytics, and feedback rules.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8092440" y="3474720"/>
            <a:ext cx="3337560" cy="12344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Local advantage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Arabic, Hebrew, English, and multilingual market behavior as first-class assumptions.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Architecture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F7F7F2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F7F7F2"/>
                </a:solidFill>
              </a:rPr>
              <a:t>Built as a Suite-centric AI workflow platform.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822960" y="2697480"/>
            <a:ext cx="475488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Current stack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Next.js web app, FastAPI backend, Suite/ContentPost/GenerationJob/ProductBulk models, R2 storage, Meta and Google integrations.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5989320" y="2697480"/>
            <a:ext cx="475488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Architecture direction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Every workflow reads from Suite Memory through a canonical context builder and writes back artifacts, analytics, and feedback learnings.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Roadmap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0B0B0B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0B0B0B"/>
                </a:solidFill>
              </a:rPr>
              <a:t>From rich prototype to scalable operating system.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77240" y="2423160"/>
            <a:ext cx="3337560" cy="150876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Near term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Harden onboarding diagnostics, generation jobs, provider limits, editing, approvals, schedule, publish, and mobile UX.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434840" y="2423160"/>
            <a:ext cx="3337560" cy="150876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Next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Social Calendar Builder, Sponsored Campaign Builder, better product bulk workflows, analytics surfaces, agency workspace.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092440" y="2423160"/>
            <a:ext cx="3337560" cy="1508760"/>
          </a:xfrm>
          <a:prstGeom prst="roundRect">
            <a:avLst/>
          </a:prstGeom>
          <a:solidFill>
            <a:srgbClr val="F1F0EA"/>
          </a:solidFill>
          <a:ln w="12700">
            <a:solidFill>
              <a:srgbClr val="D8D7D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0B0B0B"/>
                </a:solidFill>
              </a:rPr>
              <a:t>Platform</a:t>
            </a:r>
          </a:p>
          <a:p>
            <a:pPr/>
            <a:r>
              <a:rPr lang="en-US" sz="1600">
                <a:solidFill>
                  <a:srgbClr val="383834"/>
                </a:solidFill>
              </a:rPr>
              <a:t>Native iOS/Android companion apps, more ad platforms, vertical templates, deeper automation loops.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Investment use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F7F7F2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F7F7F2"/>
                </a:solidFill>
              </a:rPr>
              <a:t>Funding accelerates product stability, integrations, and go-to-market.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77240" y="2423160"/>
            <a:ext cx="3337560" cy="15087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Engineering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Job queues, provider orchestration, testing, security, scaling, and reliability.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434840" y="2423160"/>
            <a:ext cx="3337560" cy="15087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Product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Polished onboarding, mobile approvals, calendar builder, campaign builder, and agency flows.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092440" y="2423160"/>
            <a:ext cx="3337560" cy="15087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333338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100" b="1">
                <a:solidFill>
                  <a:srgbClr val="D7FF21"/>
                </a:solidFill>
              </a:rPr>
              <a:t>GTM</a:t>
            </a:r>
          </a:p>
          <a:p>
            <a:pPr/>
            <a:r>
              <a:rPr lang="en-US" sz="1600">
                <a:solidFill>
                  <a:srgbClr val="D9D9D5"/>
                </a:solidFill>
              </a:rPr>
              <a:t>Pilot agencies, SMB verticals, onboarding playbooks, customer success, and pricing validation.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347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050" b="1">
                <a:solidFill>
                  <a:srgbClr val="D7FF21"/>
                </a:solidFill>
              </a:rPr>
              <a:t>The ask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921240" y="31089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450" b="1">
                <a:solidFill>
                  <a:srgbClr val="F7F7F2"/>
                </a:solidFill>
              </a:rPr>
              <a:t>co-Suite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94360" y="960120"/>
            <a:ext cx="88239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3400" b="1">
                <a:solidFill>
                  <a:srgbClr val="F7F7F2"/>
                </a:solidFill>
              </a:rPr>
              <a:t>We are building the marketing operating system for the AI-native business era.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630936" y="224028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1750">
                <a:solidFill>
                  <a:srgbClr val="C9C9C5"/>
                </a:solidFill>
              </a:rPr>
              <a:t>co-Suite sits at the intersection of SMB marketing pain, multilingual local markets, AI media generation, ad platform workflows, and agency production bottlenecks.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685800" y="2971800"/>
            <a:ext cx="9875520" cy="2926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marL="285750" indent="-171450">
              <a:buChar char="•"/>
              <a:buFont typeface="Arial"/>
            </a:pPr>
            <a:r>
              <a:rPr lang="en-US" sz="1550">
                <a:solidFill>
                  <a:srgbClr val="C9C9C5"/>
                </a:solidFill>
              </a:rPr>
              <a:t>Seeking strategic capital and partners.</a:t>
            </a:r>
          </a:p>
          <a:p>
            <a:pPr marL="285750" indent="-171450">
              <a:buChar char="•"/>
              <a:buFont typeface="Arial"/>
            </a:pPr>
            <a:r>
              <a:rPr lang="en-US" sz="1550">
                <a:solidFill>
                  <a:srgbClr val="C9C9C5"/>
                </a:solidFill>
              </a:rPr>
              <a:t>Immediate goal: turn the working platform into a reliable daily product for agencies and businesses.</a:t>
            </a:r>
          </a:p>
          <a:p>
            <a:pPr marL="285750" indent="-171450">
              <a:buChar char="•"/>
              <a:buFont typeface="Arial"/>
            </a:pPr>
            <a:r>
              <a:rPr lang="en-US" sz="1550">
                <a:solidFill>
                  <a:srgbClr val="C9C9C5"/>
                </a:solidFill>
              </a:rPr>
              <a:t>The next wave is not just generating content; it is operating marketing systems around business memory.</a:t>
            </a:r>
          </a:p>
        </p:txBody>
      </p:sp>
      <p:sp>
        <p:nvSpPr>
          <p:cNvPr id="8" name="Accent"/>
          <p:cNvSpPr/>
          <p:nvPr/>
        </p:nvSpPr>
        <p:spPr>
          <a:xfrm>
            <a:off x="594360" y="6199632"/>
            <a:ext cx="3474720" cy="64008"/>
          </a:xfrm>
          <a:prstGeom prst="rect">
            <a:avLst/>
          </a:prstGeom>
          <a:solidFill>
            <a:srgbClr val="D7FF21"/>
          </a:solidFill>
          <a:ln>
            <a:noFill/>
          </a:ln>
        </p:spPr>
      </p:sp>
      <p:sp>
        <p:nvSpPr>
          <p:cNvPr id="9" name="Accent"/>
          <p:cNvSpPr/>
          <p:nvPr/>
        </p:nvSpPr>
        <p:spPr>
          <a:xfrm>
            <a:off x="4160520" y="6199632"/>
            <a:ext cx="3474720" cy="64008"/>
          </a:xfrm>
          <a:prstGeom prst="rect">
            <a:avLst/>
          </a:prstGeom>
          <a:solidFill>
            <a:srgbClr val="FF4FA3"/>
          </a:solidFill>
          <a:ln>
            <a:noFill/>
          </a:ln>
        </p:spPr>
      </p:sp>
      <p:sp>
        <p:nvSpPr>
          <p:cNvPr id="10" name="Accent"/>
          <p:cNvSpPr/>
          <p:nvPr/>
        </p:nvSpPr>
        <p:spPr>
          <a:xfrm>
            <a:off x="7726679" y="6199632"/>
            <a:ext cx="3474720" cy="64008"/>
          </a:xfrm>
          <a:prstGeom prst="rect">
            <a:avLst/>
          </a:prstGeom>
          <a:solidFill>
            <a:srgbClr val="2F80FF"/>
          </a:solidFill>
          <a:ln>
            <a:noFill/>
          </a:ln>
        </p:spPr>
      </p:sp>
      <p:sp>
        <p:nvSpPr>
          <p:cNvPr id="11" name="TextBox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en-US" sz="850">
                <a:solidFill>
                  <a:srgbClr val="777777"/>
                </a:solidFill>
              </a:rPr>
              <a:t>Confidential · Investor narrative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-Suite">
  <a:themeElements>
    <a:clrScheme name="co-Suite">
      <a:dk1>
        <a:srgbClr val="050505"/>
      </a:dk1>
      <a:lt1>
        <a:srgbClr val="F8F7F2"/>
      </a:lt1>
      <a:dk2>
        <a:srgbClr val="111113"/>
      </a:dk2>
      <a:lt2>
        <a:srgbClr val="F1F0EA"/>
      </a:lt2>
      <a:accent1>
        <a:srgbClr val="D7FF21"/>
      </a:accent1>
      <a:accent2>
        <a:srgbClr val="FF4FA3"/>
      </a:accent2>
      <a:accent3>
        <a:srgbClr val="2F80FF"/>
      </a:accent3>
      <a:accent4>
        <a:srgbClr val="00A676"/>
      </a:accent4>
      <a:accent5>
        <a:srgbClr val="FFFFFF"/>
      </a:accent5>
      <a:accent6>
        <a:srgbClr val="777777"/>
      </a:accent6>
      <a:hlink>
        <a:srgbClr val="2F80FF"/>
      </a:hlink>
      <a:folHlink>
        <a:srgbClr val="FF4FA3"/>
      </a:folHlink>
    </a:clrScheme>
    <a:fontScheme name="Inter">
      <a:majorFont>
        <a:latin typeface="Arial"/>
      </a:majorFont>
      <a:minorFont>
        <a:latin typeface="Arial"/>
      </a:minorFont>
    </a:fontScheme>
    <a:fmtScheme name="co-Sui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co-Suite</Application>
  <PresentationFormat>Widescreen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co-Suite Investor Deck</dc:title>
  <dc:creator>co-Suite</dc:creator>
  <cp:lastModifiedBy>co-Suite</cp:lastModifiedBy>
  <dcterms:created xsi:type="dcterms:W3CDTF">2026-06-05T00:00:00Z</dcterms:created>
  <dcterms:modified xsi:type="dcterms:W3CDTF">2026-06-05T00:00:00Z</dcterms:modified>
</cp:coreProperties>
</file>